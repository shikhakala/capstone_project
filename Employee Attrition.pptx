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7" r:id="rId5"/>
    <p:sldId id="261" r:id="rId6"/>
    <p:sldId id="260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6661-78B7-257A-95DA-8D2D4DF30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4CD0B-DDCF-5D56-4C1C-472AA149D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88B88-1800-B59A-DC7B-AF967F82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E38DF-8703-9C4D-131B-73DEC1725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154E-5EE2-95C8-49F2-1AA99268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7150-F2BC-899D-5C40-EA7F9CB7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F0D93-75E3-26D7-9AFA-5325805C5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EA2F6-7141-95E0-89E8-7C826877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452C0-D249-1FA9-CA35-EED7E1F5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DAB09-6F39-8A54-DEBA-E63C6D08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61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F0977-C154-AD1A-0397-7F28C4A1D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F3D4-015A-ED04-9460-0E54045F0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BC34A-BBCB-EFBD-27BD-CE11E854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3AEEE-9825-09F6-B5AF-95DDB890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D85DE-ED09-8406-D214-A8AE8C7B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49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3698-116A-DA61-BA69-16DE23A5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1B060-F04E-F355-6666-A50DA380C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60672-1223-7E98-8EDE-35D4391E4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9925D-EBCB-5162-11CB-479DAB99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F8006-4E6F-DC08-76FB-5D6DAD73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92BBB-2A45-A516-E51E-29F55570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66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837E-6745-8C3F-575F-A215B93D3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8749-39F3-BDD2-82B2-82621CC03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10251-458A-0C57-1389-4B9439C14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445CB-DAE4-7D55-4359-DF422EBE6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AC909-E19D-CACF-AD8F-D192CBEA4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2AC3D0-0172-FD1C-A296-BFEA76F9C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B0D5F-C841-741B-C5F9-1FF46755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149AF-AB53-8F79-9CDC-4B4BE10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9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D468-C9FB-F1E4-698B-7111CC48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40184-8209-93E1-C5EE-52CF73F4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83B69-579D-EA1F-1307-013FAEB5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77CA5-B9FE-CB4A-F319-2D195ABA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3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D8015-C415-E9FA-E1DA-5F71809D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4EEE37-904E-C66D-19E9-8CC894C3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2B616-2864-9F8B-D1FA-7C2628A5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5707-71B6-5644-3346-4F7F235B8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0900-AE52-6D27-EF58-5BD8ABE6F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AADB3-1586-FEF1-2A7C-11284E1D7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D8CEA-4626-03B3-24EF-6662C66B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F5445-AB7F-BF70-27BC-794359DB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70601-19C3-8513-200B-9C8CD6EE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14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C724-487B-9B3C-38C8-42452B47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E22DC-DD97-4BC7-4179-57C2BC7CB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91D40-378B-DFDF-BE68-C0CAEF280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C8647-217E-EBB2-6ED1-6DA636A9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520F3-0120-D3AF-919B-39C50AC00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A62F6-4415-20C7-CBA7-CAF9E5CF7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8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2DB3-6781-35E2-5A8E-B41E8F1C9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96983-F917-4D51-70D8-39B81660D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CA081-37E1-2662-EFD7-7014FF8B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703FA-0651-4374-D442-134B1992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6BB12-D3AE-9091-8B29-733067C4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3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D8AF3F-226F-4F4F-12A4-C2AFF3243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08FA4-83BF-817C-7393-50ED9D3C9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64E9B-5543-E4A1-DDC0-ACA30989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8CA0A-B73E-6100-0094-31966A70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3744A-AF44-11E3-5882-D3EC1EC6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0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66A0C-29B5-429C-2867-EFDD0E28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CF4CE-7F35-2A89-1B90-AC74295F0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87D32-4657-E733-8C0A-CC462BB14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03D3B-A1FD-440F-88B6-3AF4976E01B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CCA92-A804-C419-4353-A8492386D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A7B51-FAA4-A24D-62F7-296FD012C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A6E3C-8955-4C9F-91C2-B59165523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1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6603D-FBB1-0FD4-F488-20108BD56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520" y="2744662"/>
            <a:ext cx="6589707" cy="2387600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Employee Attrition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9AF97-2368-6368-04B4-61AF8F3EA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520" y="5224337"/>
            <a:ext cx="6589707" cy="1329443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Author: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Shikha Kala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68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DACC9-3BC4-B809-E031-C29839A0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AEC8-CB0F-A395-527E-D74E72032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Predicting Employee Attrition with Machine Learning</a:t>
            </a:r>
            <a:endParaRPr lang="en-US" dirty="0"/>
          </a:p>
          <a:p>
            <a:r>
              <a:rPr lang="en-US" b="1" dirty="0"/>
              <a:t>Challenge:</a:t>
            </a:r>
            <a:r>
              <a:rPr lang="en-US" dirty="0"/>
              <a:t> High attrition drives recruitment costs, productivity loss, and expertise drain.</a:t>
            </a:r>
          </a:p>
          <a:p>
            <a:r>
              <a:rPr lang="en-US" b="1" dirty="0"/>
              <a:t>Approach:</a:t>
            </a:r>
            <a:r>
              <a:rPr lang="en-US" dirty="0"/>
              <a:t> Applied ML models (Logistic Regression, Decision Trees, Random Forest, SVM, AdaBoost) with SHAP analysis for interpretability.</a:t>
            </a:r>
          </a:p>
          <a:p>
            <a:r>
              <a:rPr lang="en-US" b="1" dirty="0"/>
              <a:t>Key Insights:</a:t>
            </a:r>
            <a:r>
              <a:rPr lang="en-US" dirty="0"/>
              <a:t> Job satisfaction, salary, and tenure are top attrition drivers.</a:t>
            </a:r>
          </a:p>
          <a:p>
            <a:r>
              <a:rPr lang="en-US" b="1" dirty="0"/>
              <a:t>Impact:</a:t>
            </a:r>
            <a:r>
              <a:rPr lang="en-US" dirty="0"/>
              <a:t> Enables HR to implement data-driven retention strategies, reducing turnover costs and improving engagement.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5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0E74-4756-C776-E7AF-33669895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Proxima Nova"/>
              </a:rPr>
              <a:t> </a:t>
            </a:r>
            <a:r>
              <a:rPr lang="en-US" dirty="0"/>
              <a:t>Pre-processing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D3162-6452-E3D5-4B02-010BD4084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Handled Missing &amp; Invalid Data</a:t>
            </a:r>
            <a:endParaRPr lang="en-US" dirty="0"/>
          </a:p>
          <a:p>
            <a:pPr lvl="1"/>
            <a:r>
              <a:rPr lang="en-US" dirty="0"/>
              <a:t>Removed missing values and duplicates.</a:t>
            </a:r>
          </a:p>
          <a:p>
            <a:pPr lvl="1"/>
            <a:r>
              <a:rPr lang="en-US" dirty="0"/>
              <a:t>Dropped records with invalid </a:t>
            </a:r>
            <a:r>
              <a:rPr lang="en-US" dirty="0" err="1"/>
              <a:t>ApplicationID</a:t>
            </a:r>
            <a:r>
              <a:rPr lang="en-US" dirty="0"/>
              <a:t>.</a:t>
            </a:r>
          </a:p>
          <a:p>
            <a:r>
              <a:rPr lang="en-US" b="1" dirty="0"/>
              <a:t>Data Transformation</a:t>
            </a:r>
            <a:endParaRPr lang="en-US" dirty="0"/>
          </a:p>
          <a:p>
            <a:pPr lvl="1"/>
            <a:r>
              <a:rPr lang="en-US" dirty="0"/>
              <a:t>Converted categorical columns to integers.</a:t>
            </a:r>
          </a:p>
          <a:p>
            <a:pPr lvl="1"/>
            <a:r>
              <a:rPr lang="en-US" dirty="0"/>
              <a:t>Removed non-informative columns (e.g., </a:t>
            </a:r>
            <a:r>
              <a:rPr lang="en-US" dirty="0" err="1"/>
              <a:t>StandardHours</a:t>
            </a:r>
            <a:r>
              <a:rPr lang="en-US" dirty="0"/>
              <a:t>, </a:t>
            </a:r>
            <a:r>
              <a:rPr lang="en-US" dirty="0" err="1"/>
              <a:t>EmployeeCount</a:t>
            </a:r>
            <a:r>
              <a:rPr lang="en-US" dirty="0"/>
              <a:t>).</a:t>
            </a:r>
          </a:p>
          <a:p>
            <a:r>
              <a:rPr lang="en-US" dirty="0"/>
              <a:t>Encoded target variable: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0</a:t>
            </a:r>
            <a:r>
              <a:rPr lang="en-US" dirty="0"/>
              <a:t> → Current Employee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1</a:t>
            </a:r>
            <a:r>
              <a:rPr lang="en-US" dirty="0"/>
              <a:t> → Voluntary Resignation</a:t>
            </a:r>
          </a:p>
          <a:p>
            <a:pPr>
              <a:buNone/>
            </a:pPr>
            <a:r>
              <a:rPr lang="en-US" b="1" dirty="0"/>
              <a:t>Final Dataset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Clean, structured, and ready for model training.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9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8A2D-7485-2933-9BD4-C09A231B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08BA9-0FF3-B14E-55CA-5FF8AAD8D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variable analysis (imbalance data)</a:t>
            </a:r>
          </a:p>
          <a:p>
            <a:endParaRPr lang="en-US" dirty="0"/>
          </a:p>
        </p:txBody>
      </p:sp>
      <p:pic>
        <p:nvPicPr>
          <p:cNvPr id="4" name="Picture 3" descr="A graph of a graph showing a number of employees&#10;&#10;AI-generated content may be incorrect.">
            <a:extLst>
              <a:ext uri="{FF2B5EF4-FFF2-40B4-BE49-F238E27FC236}">
                <a16:creationId xmlns:a16="http://schemas.microsoft.com/office/drawing/2014/main" id="{117C2865-775C-F520-C72B-A32208B9A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4200"/>
            <a:ext cx="4146550" cy="2758440"/>
          </a:xfrm>
          <a:prstGeom prst="rect">
            <a:avLst/>
          </a:prstGeom>
        </p:spPr>
      </p:pic>
      <p:pic>
        <p:nvPicPr>
          <p:cNvPr id="5" name="Picture 4" descr="A graph with numbers and a red line&#10;&#10;AI-generated content may be incorrect.">
            <a:extLst>
              <a:ext uri="{FF2B5EF4-FFF2-40B4-BE49-F238E27FC236}">
                <a16:creationId xmlns:a16="http://schemas.microsoft.com/office/drawing/2014/main" id="{32DC1D17-6279-0DB3-6758-3658C87D7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116" y="2161540"/>
            <a:ext cx="5943600" cy="415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4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3DCE-CB58-47A7-1AFD-B0808BED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Insights (</a:t>
            </a:r>
            <a:r>
              <a:rPr lang="en-US" dirty="0" err="1"/>
              <a:t>Ctd</a:t>
            </a:r>
            <a:r>
              <a:rPr lang="en-US" dirty="0"/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2221C-BD68-9F99-9B4B-01B6ECA29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Attrition Trends</a:t>
            </a:r>
          </a:p>
          <a:p>
            <a:pPr lvl="1"/>
            <a:r>
              <a:rPr lang="en-US" dirty="0"/>
              <a:t>Significant class imbalance—more current employees than those who resigned.</a:t>
            </a:r>
          </a:p>
          <a:p>
            <a:pPr lvl="1"/>
            <a:r>
              <a:rPr lang="en-US" dirty="0"/>
              <a:t>Younger, lower-level employees with lower income had higher attrition.</a:t>
            </a:r>
          </a:p>
          <a:p>
            <a:pPr lvl="1"/>
            <a:r>
              <a:rPr lang="en-US" dirty="0"/>
              <a:t>Job-hopping history linked to higher resignation rates.</a:t>
            </a:r>
          </a:p>
          <a:p>
            <a:pPr>
              <a:buNone/>
            </a:pPr>
            <a:r>
              <a:rPr lang="en-US" b="1" dirty="0"/>
              <a:t>Salary &amp; Job Level Impact</a:t>
            </a:r>
          </a:p>
          <a:p>
            <a:pPr lvl="1"/>
            <a:r>
              <a:rPr lang="en-US" dirty="0"/>
              <a:t>Higher-income employees stayed longer.</a:t>
            </a:r>
          </a:p>
          <a:p>
            <a:pPr lvl="1"/>
            <a:r>
              <a:rPr lang="en-US" dirty="0"/>
              <a:t>Job Level and Monthly Income highly correlated (~0.94).</a:t>
            </a:r>
          </a:p>
          <a:p>
            <a:pPr lvl="1"/>
            <a:r>
              <a:rPr lang="en-US" dirty="0"/>
              <a:t>Lower job levels had higher attrition, likely for better opportunities.</a:t>
            </a:r>
          </a:p>
          <a:p>
            <a:pPr>
              <a:buNone/>
            </a:pPr>
            <a:r>
              <a:rPr lang="en-US" b="1" dirty="0"/>
              <a:t>Work-Life Balance &amp; Job Satisfaction</a:t>
            </a:r>
          </a:p>
          <a:p>
            <a:pPr lvl="1"/>
            <a:r>
              <a:rPr lang="en-US" dirty="0"/>
              <a:t>Minimal impact on attrition—employees left for better pay/career growth.</a:t>
            </a:r>
          </a:p>
          <a:p>
            <a:pPr lvl="1"/>
            <a:r>
              <a:rPr lang="en-US" dirty="0"/>
              <a:t>Job satisfaction wasn’t a strong predictor of attrition.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40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A189-3B34-46C6-C848-CAA7F627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Insights (</a:t>
            </a:r>
            <a:r>
              <a:rPr lang="en-US" dirty="0" err="1"/>
              <a:t>Ctd</a:t>
            </a:r>
            <a:r>
              <a:rPr lang="en-US" dirty="0"/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56493-B1D9-34DB-0DF6-CB119CD1B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Promotions &amp; Career Growth</a:t>
            </a:r>
          </a:p>
          <a:p>
            <a:pPr lvl="1"/>
            <a:r>
              <a:rPr lang="en-US" dirty="0"/>
              <a:t>Long stagnation in a role increased attrition.</a:t>
            </a:r>
          </a:p>
          <a:p>
            <a:pPr lvl="1"/>
            <a:r>
              <a:rPr lang="en-US" dirty="0"/>
              <a:t>Years Since Last Promotion had little effect—employees left for growth, not just promotions.</a:t>
            </a:r>
          </a:p>
          <a:p>
            <a:pPr lvl="1"/>
            <a:r>
              <a:rPr lang="en-US" dirty="0"/>
              <a:t>More experienced employees were less likely to leave.</a:t>
            </a:r>
          </a:p>
          <a:p>
            <a:pPr>
              <a:buNone/>
            </a:pPr>
            <a:r>
              <a:rPr lang="en-US" b="1" dirty="0"/>
              <a:t>Managerial Influence</a:t>
            </a:r>
          </a:p>
          <a:p>
            <a:pPr lvl="1"/>
            <a:r>
              <a:rPr lang="en-US" dirty="0"/>
              <a:t>Short tenure under a manager correlated with higher attrition.</a:t>
            </a:r>
          </a:p>
          <a:p>
            <a:pPr lvl="1"/>
            <a:r>
              <a:rPr lang="en-US" dirty="0"/>
              <a:t>Strong long-term manager relationships improved retention.</a:t>
            </a:r>
          </a:p>
          <a:p>
            <a:pPr>
              <a:buNone/>
            </a:pPr>
            <a:r>
              <a:rPr lang="en-US" b="1" dirty="0"/>
              <a:t>Other Key Findings</a:t>
            </a:r>
          </a:p>
          <a:p>
            <a:pPr lvl="1"/>
            <a:r>
              <a:rPr lang="en-US" dirty="0"/>
              <a:t>Overtime work increased attrition (burnout factor).</a:t>
            </a:r>
          </a:p>
          <a:p>
            <a:pPr lvl="1"/>
            <a:r>
              <a:rPr lang="en-US" dirty="0"/>
              <a:t>Employees hired via referrals had the lowest attrition.</a:t>
            </a:r>
          </a:p>
          <a:p>
            <a:pPr lvl="1"/>
            <a:r>
              <a:rPr lang="en-US" dirty="0"/>
              <a:t>Frequent travelers left more, likely due to stress.</a:t>
            </a:r>
          </a:p>
          <a:p>
            <a:pPr lvl="1"/>
            <a:r>
              <a:rPr lang="en-US" dirty="0"/>
              <a:t>Sales Executives &amp; Lab Technicians had the highest attrition—need targeted retention.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39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E87C1-51E2-7D28-ED53-89000F9C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Results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48299C-3B9B-ABA4-8A9C-0D5E1B482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2398" y="1825625"/>
            <a:ext cx="53872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37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F7DD-DBA8-6555-3E40-6E600969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Results (</a:t>
            </a:r>
            <a:r>
              <a:rPr lang="en-US" dirty="0" err="1"/>
              <a:t>Ctd</a:t>
            </a:r>
            <a:r>
              <a:rPr lang="en-US" dirty="0"/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8D056-134F-CE38-CB3A-6FBAA0A94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400" b="1" dirty="0"/>
              <a:t>Best Model: Random Forest (</a:t>
            </a:r>
            <a:r>
              <a:rPr lang="en-US" sz="1400" b="1" dirty="0" err="1"/>
              <a:t>class_weight</a:t>
            </a:r>
            <a:r>
              <a:rPr lang="en-US" sz="1400" b="1" dirty="0"/>
              <a:t>=balanced)</a:t>
            </a:r>
          </a:p>
          <a:p>
            <a:pPr lvl="1"/>
            <a:r>
              <a:rPr lang="en-US" sz="1000" b="1" dirty="0"/>
              <a:t>Test Accuracy:</a:t>
            </a:r>
            <a:r>
              <a:rPr lang="en-US" sz="1000" dirty="0"/>
              <a:t> 99.78%</a:t>
            </a:r>
          </a:p>
          <a:p>
            <a:pPr lvl="1"/>
            <a:r>
              <a:rPr lang="en-US" sz="1000" b="1" dirty="0"/>
              <a:t>F1 Score:</a:t>
            </a:r>
            <a:r>
              <a:rPr lang="en-US" sz="1000" dirty="0"/>
              <a:t> 0.9932 (</a:t>
            </a:r>
            <a:r>
              <a:rPr lang="en-US" sz="1000" b="1" dirty="0"/>
              <a:t>Highest F1</a:t>
            </a:r>
            <a:r>
              <a:rPr lang="en-US" sz="1000" dirty="0"/>
              <a:t>)</a:t>
            </a:r>
          </a:p>
          <a:p>
            <a:pPr lvl="1"/>
            <a:r>
              <a:rPr lang="en-US" sz="1000" b="1" dirty="0"/>
              <a:t>ROC-AUC:</a:t>
            </a:r>
            <a:r>
              <a:rPr lang="en-US" sz="1000" dirty="0"/>
              <a:t> 0.9996 (</a:t>
            </a:r>
            <a:r>
              <a:rPr lang="en-US" sz="1000" b="1" dirty="0"/>
              <a:t>Near-perfect class separation</a:t>
            </a:r>
            <a:r>
              <a:rPr lang="en-US" sz="1000" dirty="0"/>
              <a:t>)</a:t>
            </a:r>
          </a:p>
          <a:p>
            <a:pPr lvl="1"/>
            <a:r>
              <a:rPr lang="en-US" sz="1000" b="1" dirty="0"/>
              <a:t>Precision:</a:t>
            </a:r>
            <a:r>
              <a:rPr lang="en-US" sz="1000" dirty="0"/>
              <a:t> 0.9954 | </a:t>
            </a:r>
            <a:r>
              <a:rPr lang="en-US" sz="1000" b="1" dirty="0"/>
              <a:t>Recall:</a:t>
            </a:r>
            <a:r>
              <a:rPr lang="en-US" sz="1000" dirty="0"/>
              <a:t> 0.9909</a:t>
            </a:r>
          </a:p>
          <a:p>
            <a:pPr lvl="1"/>
            <a:r>
              <a:rPr lang="en-US" sz="1000" b="1" dirty="0"/>
              <a:t>Train Time:</a:t>
            </a:r>
            <a:r>
              <a:rPr lang="en-US" sz="1000" dirty="0"/>
              <a:t> 46.1s (</a:t>
            </a:r>
            <a:r>
              <a:rPr lang="en-US" sz="1000" b="1" dirty="0"/>
              <a:t>Efficient for performance</a:t>
            </a:r>
            <a:r>
              <a:rPr lang="en-US" sz="1000" dirty="0"/>
              <a:t>)</a:t>
            </a:r>
          </a:p>
          <a:p>
            <a:pPr marL="0" indent="0">
              <a:buNone/>
            </a:pPr>
            <a:r>
              <a:rPr lang="en-US" sz="1400" b="1" dirty="0"/>
              <a:t>Why?</a:t>
            </a:r>
          </a:p>
          <a:p>
            <a:pPr lvl="1"/>
            <a:r>
              <a:rPr lang="en-US" sz="1000" dirty="0"/>
              <a:t>Balanced precision &amp; recall</a:t>
            </a:r>
          </a:p>
          <a:p>
            <a:pPr lvl="1"/>
            <a:r>
              <a:rPr lang="en-US" sz="1000" dirty="0"/>
              <a:t>Handles class imbalance well</a:t>
            </a:r>
          </a:p>
          <a:p>
            <a:pPr lvl="1"/>
            <a:r>
              <a:rPr lang="en-US" sz="1000" dirty="0"/>
              <a:t>Prevents overfitting with class weighting</a:t>
            </a:r>
          </a:p>
          <a:p>
            <a:pPr marL="0" indent="0">
              <a:buNone/>
            </a:pPr>
            <a:r>
              <a:rPr lang="en-US" sz="1400" b="1" dirty="0"/>
              <a:t>Best Alternative:</a:t>
            </a:r>
            <a:r>
              <a:rPr lang="en-US" sz="1400" dirty="0"/>
              <a:t> </a:t>
            </a:r>
            <a:r>
              <a:rPr lang="en-US" sz="1400" dirty="0" err="1"/>
              <a:t>XGBoost</a:t>
            </a:r>
            <a:r>
              <a:rPr lang="en-US" sz="1400" dirty="0"/>
              <a:t> (Optimized)</a:t>
            </a:r>
          </a:p>
          <a:p>
            <a:pPr lvl="1"/>
            <a:r>
              <a:rPr lang="en-US" sz="1000" dirty="0"/>
              <a:t>Near-perfect generalization, faster training time</a:t>
            </a:r>
          </a:p>
          <a:p>
            <a:pPr>
              <a:buNone/>
            </a:pPr>
            <a:r>
              <a:rPr lang="en-US" sz="1400" b="1" dirty="0"/>
              <a:t>Other Notable Mentions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KNN Fine Tuned - </a:t>
            </a:r>
            <a:r>
              <a:rPr lang="en-US" sz="1400" dirty="0" err="1"/>
              <a:t>SelectKBest</a:t>
            </a:r>
            <a:r>
              <a:rPr lang="en-US" sz="1400" dirty="0"/>
              <a:t> - Best Threshold</a:t>
            </a:r>
          </a:p>
          <a:p>
            <a:pPr lvl="1"/>
            <a:r>
              <a:rPr lang="en-US" sz="1000" dirty="0"/>
              <a:t>High accuracy but computationally expensive at test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Neural Network (Fast Optimized)</a:t>
            </a:r>
          </a:p>
          <a:p>
            <a:pPr lvl="1"/>
            <a:r>
              <a:rPr lang="en-US" sz="1000" dirty="0"/>
              <a:t>Strong performance but high training cost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76508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5A200-3D99-A334-06BE-E88700F5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8008D-3900-B192-AC90-9C0C12901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Boost Compensation &amp; Career Growth</a:t>
            </a:r>
            <a:r>
              <a:rPr lang="en-US" sz="2400" dirty="0"/>
              <a:t> – Competitive pay, clear promotion paths.</a:t>
            </a:r>
          </a:p>
          <a:p>
            <a:r>
              <a:rPr lang="en-US" sz="2400" b="1" dirty="0"/>
              <a:t>Improve Work-Life Balance</a:t>
            </a:r>
            <a:r>
              <a:rPr lang="en-US" sz="2400" dirty="0"/>
              <a:t> – Limit overtime, offer flexible work options.</a:t>
            </a:r>
          </a:p>
          <a:p>
            <a:r>
              <a:rPr lang="en-US" sz="2400" b="1" dirty="0"/>
              <a:t>Strengthen Leadership &amp; Engagement</a:t>
            </a:r>
            <a:r>
              <a:rPr lang="en-US" sz="2400" dirty="0"/>
              <a:t> – Train managers, improve mentorship.</a:t>
            </a:r>
          </a:p>
          <a:p>
            <a:r>
              <a:rPr lang="en-US" sz="2400" b="1" dirty="0"/>
              <a:t>Refine Hiring &amp; Retention</a:t>
            </a:r>
            <a:r>
              <a:rPr lang="en-US" sz="2400" dirty="0"/>
              <a:t> – Focus on high-attrition roles, adjust travel policies.</a:t>
            </a:r>
          </a:p>
          <a:p>
            <a:r>
              <a:rPr lang="en-US" sz="2400" b="1" dirty="0"/>
              <a:t>Leverage Data Insights</a:t>
            </a:r>
            <a:r>
              <a:rPr lang="en-US" sz="2400" dirty="0"/>
              <a:t> – Use ML models to predict and prevent attrition.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Impact</a:t>
            </a:r>
            <a:r>
              <a:rPr lang="en-US" sz="2400" dirty="0"/>
              <a:t>: Lower turnover, higher engagement, reduced hiring costs.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924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12FF-EC54-15D4-9944-2FBF5A6F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CA66E-EC43-DF7F-B257-0CD62F48A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756"/>
              </a:spcBef>
              <a:spcAft>
                <a:spcPts val="504"/>
              </a:spcAft>
            </a:pPr>
            <a:r>
              <a:rPr lang="en-US" b="0" i="0" dirty="0">
                <a:effectLst/>
                <a:latin typeface="system-ui"/>
              </a:rPr>
              <a:t>SHAP Analysis</a:t>
            </a:r>
            <a:endParaRPr lang="en-US" dirty="0"/>
          </a:p>
        </p:txBody>
      </p:sp>
      <p:pic>
        <p:nvPicPr>
          <p:cNvPr id="5" name="Picture 4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AB8A0C3A-B6E5-A3E2-D327-9246C8D1E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336" y="2017986"/>
            <a:ext cx="5144833" cy="461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5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560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Proxima Nova</vt:lpstr>
      <vt:lpstr>system-ui</vt:lpstr>
      <vt:lpstr>Office Theme</vt:lpstr>
      <vt:lpstr>Employee Attrition</vt:lpstr>
      <vt:lpstr>Executive Summary</vt:lpstr>
      <vt:lpstr>Data Pre-processing Overview</vt:lpstr>
      <vt:lpstr>EDA Insights</vt:lpstr>
      <vt:lpstr>EDA Insights (Ctd.)</vt:lpstr>
      <vt:lpstr>EDA Insights (Ctd.)</vt:lpstr>
      <vt:lpstr>Modeling Results</vt:lpstr>
      <vt:lpstr>Modeling Results (Ctd.)</vt:lpstr>
      <vt:lpstr>Next Steps and Recommendations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Shikha Kala</dc:creator>
  <cp:lastModifiedBy>Shikha Kala</cp:lastModifiedBy>
  <cp:revision>4</cp:revision>
  <dcterms:created xsi:type="dcterms:W3CDTF">2025-03-19T03:50:53Z</dcterms:created>
  <dcterms:modified xsi:type="dcterms:W3CDTF">2025-03-19T05:27:17Z</dcterms:modified>
</cp:coreProperties>
</file>